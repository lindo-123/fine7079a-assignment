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/>
    <p:restoredTop sz="94631"/>
  </p:normalViewPr>
  <p:slideViewPr>
    <p:cSldViewPr snapToGrid="0">
      <p:cViewPr varScale="1">
        <p:scale>
          <a:sx n="101" d="100"/>
          <a:sy n="101" d="100"/>
        </p:scale>
        <p:origin x="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A4D2-07D5-3726-2D97-82344488F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F7763-60AB-E8B9-5567-2967735E7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99E84-7585-856B-9EB0-5034E79F6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E21F9-5F57-AA76-538B-3D715EEF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1F82F-1D4A-5E6D-3F12-3A03B094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5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80C8-D9C6-4CF6-E80B-8E411A60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DA6E-8362-D032-C587-DAE36D45D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7587-F3DE-A826-479F-82BF8903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09B4F-C6D2-B00D-C0B9-A9EB0D99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2F42A-6B86-F1D8-8DD0-AF08CD1B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1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6D76-3841-3A1F-9005-661FCAAD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2F9DE-0698-014F-B20A-EDD63F8B7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E04F2-6104-5B57-3C1B-E4BF8AEF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32398-EABA-6310-571B-045B1B6D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22ED9-A100-C1A8-307F-4582F37B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ADCB-BDE5-B53E-0DDE-F9FE6961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60171-9D9D-D181-7C70-6204BB874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8398F-CBCE-56F9-4FFA-E63A59B09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AE61B-CBB9-6794-1191-24C4424D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2931E-F469-3BB5-371F-81187877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16933-B7A4-CC44-3387-0574FCB7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2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36C3-C29F-397E-A616-77C66023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F66F4-1EC6-D6CA-120D-10076B49E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3DC8A-1BFC-A9D1-2B8F-51EB66FC1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BAD4A-B8C1-2010-ADC8-A107F4BCE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CE62F-C68C-FF03-25AE-E79B0D04D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5EFB4-E5A5-9338-9BEF-E703E731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8C341-4028-214E-4D1D-E8609685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322BD-F5B2-6DFA-D5F2-2AEC6D83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4C9A-B0B0-9D61-14E4-E8F7C823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4C3C6-EC18-F029-7CB0-0BD84166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33536-D6DB-5EB8-7C48-4A1F4F38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E3B99-AC89-A03C-A34A-598A4041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1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BBFA5A-424A-0342-07D0-76FC2A84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208D3-0C08-CD80-C730-ACEED452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F423D-5E61-F702-BFAE-899C1CD1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6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F31-45AE-635F-741D-0808747BC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5D6C-C4B0-A616-024D-FCD3873A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7C924-CBE7-60C0-E229-5AAFD6D39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70982-342A-DE4E-4F12-50C58762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B58F9-A79E-4DCD-2476-680CB92F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68CB4-8C4C-8CC7-8624-D6C73FA1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D400-65A2-AA00-AD07-0B5E9D1D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D136C-0B80-F6DC-0730-FA9D02943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CD83F-BA9A-CF96-3C97-FA7C263A7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40528-89DD-910A-27FB-2EDE8BF3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54A60-BD32-7E46-B2A9-34FBBAE7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2F8CA-EFB8-66CE-ADAA-F0466082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2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B329-49FA-961D-E969-0AEF5810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9B278-5F56-43A9-A494-1A0001986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F12FE-25B4-6B5D-E137-B3DAC545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27DD-3B2D-7881-9DBA-3515CD81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AC6AB-303E-CEAE-4A89-25D1C735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4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B6F33-A723-3075-081F-C0E6D414F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36EDB-6348-DC43-B4F3-B43F74007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EC34C-E347-234D-E35F-628AD761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B5-E465-D4A1-B7DA-09B0FFFB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9AA4-61A3-27A7-ECD8-2B8E3C25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4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32116C-D319-AB12-C283-A00D0004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8BC01-E646-3D29-2598-DED205297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0360C-E1DC-ED30-2AF4-D755EA7E6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E7DC2-46DF-8E40-932D-FE5F2DA6440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3765-E7C3-87F3-5B48-E4BBE3E53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91D02-6F0A-0C40-2EEB-6F4FEB6D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63095-F235-A742-AB25-03603F047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4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684028-CE35-6AA3-FFCF-5EC8DDF188F2}"/>
              </a:ext>
            </a:extLst>
          </p:cNvPr>
          <p:cNvSpPr/>
          <p:nvPr/>
        </p:nvSpPr>
        <p:spPr>
          <a:xfrm>
            <a:off x="3642659" y="2541192"/>
            <a:ext cx="8054041" cy="37702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EDCD0-D3F2-5CE0-D5B5-B421BFE92C66}"/>
              </a:ext>
            </a:extLst>
          </p:cNvPr>
          <p:cNvSpPr/>
          <p:nvPr/>
        </p:nvSpPr>
        <p:spPr>
          <a:xfrm>
            <a:off x="3909359" y="3675426"/>
            <a:ext cx="7615896" cy="24729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B5F26-F13C-58DF-FE37-008E6AC3B0DF}"/>
              </a:ext>
            </a:extLst>
          </p:cNvPr>
          <p:cNvSpPr/>
          <p:nvPr/>
        </p:nvSpPr>
        <p:spPr>
          <a:xfrm>
            <a:off x="3274359" y="673100"/>
            <a:ext cx="8422341" cy="13381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F9BC6-57A0-2E6E-D8D0-E998D39621DB}"/>
              </a:ext>
            </a:extLst>
          </p:cNvPr>
          <p:cNvSpPr txBox="1"/>
          <p:nvPr/>
        </p:nvSpPr>
        <p:spPr>
          <a:xfrm>
            <a:off x="3833161" y="700181"/>
            <a:ext cx="690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Consortium Blockchain Network</a:t>
            </a:r>
          </a:p>
          <a:p>
            <a:pPr algn="ctr"/>
            <a:r>
              <a:rPr lang="en-US" sz="1100" b="1" dirty="0"/>
              <a:t>Proof of Stake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2D2F14-1C33-8AB1-6878-B4D56776557F}"/>
              </a:ext>
            </a:extLst>
          </p:cNvPr>
          <p:cNvGrpSpPr/>
          <p:nvPr/>
        </p:nvGrpSpPr>
        <p:grpSpPr>
          <a:xfrm>
            <a:off x="702609" y="660397"/>
            <a:ext cx="1790700" cy="1981200"/>
            <a:chOff x="368300" y="393700"/>
            <a:chExt cx="1790700" cy="1981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FCD074-D8C2-CC1F-C71B-B15B533DAACA}"/>
                </a:ext>
              </a:extLst>
            </p:cNvPr>
            <p:cNvSpPr/>
            <p:nvPr/>
          </p:nvSpPr>
          <p:spPr>
            <a:xfrm>
              <a:off x="368300" y="393700"/>
              <a:ext cx="1790700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3F2B67-C52A-423C-0EB5-9058085B4873}"/>
                </a:ext>
              </a:extLst>
            </p:cNvPr>
            <p:cNvSpPr txBox="1"/>
            <p:nvPr/>
          </p:nvSpPr>
          <p:spPr>
            <a:xfrm>
              <a:off x="406400" y="457200"/>
              <a:ext cx="17018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noProof="0" dirty="0"/>
                <a:t>Data Sources</a:t>
              </a:r>
            </a:p>
            <a:p>
              <a:pPr marL="228600" indent="-228600">
                <a:buAutoNum type="arabicPeriod"/>
              </a:pPr>
              <a:r>
                <a:rPr lang="en-GB" sz="1000" noProof="0" dirty="0"/>
                <a:t>Automated Measurements from Sensors on production equipment</a:t>
              </a:r>
            </a:p>
            <a:p>
              <a:pPr marL="228600" indent="-228600">
                <a:buAutoNum type="arabicPeriod"/>
              </a:pPr>
              <a:r>
                <a:rPr lang="en-GB" sz="1000" noProof="0" dirty="0"/>
                <a:t>Authorised Personnel records measurements on spreadsheets</a:t>
              </a:r>
            </a:p>
            <a:p>
              <a:pPr marL="228600" indent="-228600">
                <a:buAutoNum type="arabicPeriod"/>
              </a:pPr>
              <a:r>
                <a:rPr lang="en-GB" sz="1000" noProof="0" dirty="0"/>
                <a:t>Records are consolidated and a report is generated.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66ABF7-5ADD-D695-4186-160A6D861EDE}"/>
              </a:ext>
            </a:extLst>
          </p:cNvPr>
          <p:cNvGrpSpPr/>
          <p:nvPr/>
        </p:nvGrpSpPr>
        <p:grpSpPr>
          <a:xfrm>
            <a:off x="692150" y="3098802"/>
            <a:ext cx="1790700" cy="1981200"/>
            <a:chOff x="368300" y="2946400"/>
            <a:chExt cx="1790700" cy="19812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13EB8D-CE20-F7A6-BA76-68FFC00D4D6C}"/>
                </a:ext>
              </a:extLst>
            </p:cNvPr>
            <p:cNvSpPr/>
            <p:nvPr/>
          </p:nvSpPr>
          <p:spPr>
            <a:xfrm>
              <a:off x="368300" y="2946400"/>
              <a:ext cx="1790700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5C24FF-D94C-8784-1743-24787624E39E}"/>
                </a:ext>
              </a:extLst>
            </p:cNvPr>
            <p:cNvSpPr txBox="1"/>
            <p:nvPr/>
          </p:nvSpPr>
          <p:spPr>
            <a:xfrm>
              <a:off x="406400" y="2988608"/>
              <a:ext cx="17018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noProof="0" dirty="0"/>
                <a:t>Secure  Storage</a:t>
              </a:r>
            </a:p>
            <a:p>
              <a:endParaRPr lang="en-GB" sz="1000" dirty="0"/>
            </a:p>
            <a:p>
              <a:r>
                <a:rPr lang="en-GB" sz="1000" noProof="0" dirty="0"/>
                <a:t>Reports stored in encrypted storage whereby access is controlled. </a:t>
              </a:r>
            </a:p>
            <a:p>
              <a:endParaRPr lang="en-GB" sz="1000" dirty="0"/>
            </a:p>
            <a:p>
              <a:r>
                <a:rPr lang="en-GB" sz="1000" noProof="0" dirty="0"/>
                <a:t>What is stored in storage</a:t>
              </a:r>
            </a:p>
            <a:p>
              <a:pPr marL="228600" indent="-228600">
                <a:buAutoNum type="arabicPeriod"/>
              </a:pPr>
              <a:r>
                <a:rPr lang="en-GB" sz="1000" dirty="0"/>
                <a:t>Full emissions reports</a:t>
              </a:r>
            </a:p>
            <a:p>
              <a:pPr marL="228600" indent="-228600">
                <a:buAutoNum type="arabicPeriod"/>
              </a:pPr>
              <a:r>
                <a:rPr lang="en-GB" sz="1000" noProof="0" dirty="0"/>
                <a:t>Raw sensor data</a:t>
              </a:r>
            </a:p>
            <a:p>
              <a:pPr marL="228600" indent="-228600">
                <a:buAutoNum type="arabicPeriod"/>
              </a:pPr>
              <a:r>
                <a:rPr lang="en-GB" sz="1000" dirty="0"/>
                <a:t>Calculations</a:t>
              </a:r>
            </a:p>
            <a:p>
              <a:pPr marL="228600" indent="-228600">
                <a:buAutoNum type="arabicPeriod"/>
              </a:pPr>
              <a:r>
                <a:rPr lang="en-GB" sz="1000" noProof="0" dirty="0"/>
                <a:t>Supporting documents</a:t>
              </a:r>
            </a:p>
            <a:p>
              <a:pPr marL="228600" indent="-228600">
                <a:buAutoNum type="arabicPeriod"/>
              </a:pPr>
              <a:r>
                <a:rPr lang="en-GB" sz="1000" dirty="0"/>
                <a:t>Salt</a:t>
              </a:r>
              <a:endParaRPr lang="en-GB" sz="1000" noProof="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9555-2B38-EB86-32A0-23A98885D315}"/>
              </a:ext>
            </a:extLst>
          </p:cNvPr>
          <p:cNvSpPr/>
          <p:nvPr/>
        </p:nvSpPr>
        <p:spPr>
          <a:xfrm>
            <a:off x="381000" y="546555"/>
            <a:ext cx="2374900" cy="5866945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E5842-530F-55D5-EF90-B4239FD78A14}"/>
              </a:ext>
            </a:extLst>
          </p:cNvPr>
          <p:cNvSpPr txBox="1"/>
          <p:nvPr/>
        </p:nvSpPr>
        <p:spPr>
          <a:xfrm>
            <a:off x="6800852" y="219996"/>
            <a:ext cx="1684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On-chain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AB23F0-47D8-9934-B1F7-9E9B15728EC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97959" y="2641597"/>
            <a:ext cx="0" cy="44450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F240097-BEA6-279B-1F3D-5A67C40112FF}"/>
              </a:ext>
            </a:extLst>
          </p:cNvPr>
          <p:cNvSpPr txBox="1"/>
          <p:nvPr/>
        </p:nvSpPr>
        <p:spPr>
          <a:xfrm>
            <a:off x="4277659" y="3709994"/>
            <a:ext cx="6718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Emissions Report Lifecycle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282659-383C-EF24-A4D9-25DBC2BD8568}"/>
              </a:ext>
            </a:extLst>
          </p:cNvPr>
          <p:cNvGrpSpPr/>
          <p:nvPr/>
        </p:nvGrpSpPr>
        <p:grpSpPr>
          <a:xfrm>
            <a:off x="4137959" y="4032591"/>
            <a:ext cx="1574800" cy="1981200"/>
            <a:chOff x="3378200" y="2964194"/>
            <a:chExt cx="1574800" cy="19812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9A4C1E4-9704-B62E-4417-FA7C4E175D70}"/>
                </a:ext>
              </a:extLst>
            </p:cNvPr>
            <p:cNvSpPr/>
            <p:nvPr/>
          </p:nvSpPr>
          <p:spPr>
            <a:xfrm>
              <a:off x="3378200" y="2964194"/>
              <a:ext cx="1574800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7EF3AE-31CB-C818-7ECB-7F8D76A00438}"/>
                </a:ext>
              </a:extLst>
            </p:cNvPr>
            <p:cNvSpPr txBox="1"/>
            <p:nvPr/>
          </p:nvSpPr>
          <p:spPr>
            <a:xfrm>
              <a:off x="3517900" y="3098802"/>
              <a:ext cx="13081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1. Submission of Report by Manufacturer. </a:t>
              </a:r>
            </a:p>
            <a:p>
              <a:pPr marL="228600" indent="-228600">
                <a:buAutoNum type="arabicPeriod"/>
              </a:pPr>
              <a:endParaRPr lang="en-GB" sz="1100" dirty="0"/>
            </a:p>
            <a:p>
              <a:r>
                <a:rPr lang="en-GB" sz="1100" dirty="0"/>
                <a:t>Report Hash is submitted to the smart contract. </a:t>
              </a:r>
            </a:p>
            <a:p>
              <a:endParaRPr lang="en-GB" sz="1100" dirty="0"/>
            </a:p>
            <a:p>
              <a:r>
                <a:rPr lang="en-GB" sz="1100" dirty="0"/>
                <a:t>Hash is stored on the blockchain.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731870-0B57-DAC2-8298-3A00762F31E1}"/>
              </a:ext>
            </a:extLst>
          </p:cNvPr>
          <p:cNvGrpSpPr/>
          <p:nvPr/>
        </p:nvGrpSpPr>
        <p:grpSpPr>
          <a:xfrm>
            <a:off x="5985785" y="4032591"/>
            <a:ext cx="1574800" cy="1981200"/>
            <a:chOff x="3378200" y="2964194"/>
            <a:chExt cx="1574800" cy="1981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90994DC-792B-F4AC-23C5-108C44CBA605}"/>
                </a:ext>
              </a:extLst>
            </p:cNvPr>
            <p:cNvSpPr/>
            <p:nvPr/>
          </p:nvSpPr>
          <p:spPr>
            <a:xfrm>
              <a:off x="3378200" y="2964194"/>
              <a:ext cx="1574800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B9A94E-F916-BF80-7867-F2484DE9F9A1}"/>
                </a:ext>
              </a:extLst>
            </p:cNvPr>
            <p:cNvSpPr txBox="1"/>
            <p:nvPr/>
          </p:nvSpPr>
          <p:spPr>
            <a:xfrm>
              <a:off x="3517900" y="3098802"/>
              <a:ext cx="1308100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2. Internal Auditor Sign-off</a:t>
              </a:r>
            </a:p>
            <a:p>
              <a:pPr marL="228600" indent="-228600">
                <a:buAutoNum type="arabicPeriod"/>
              </a:pPr>
              <a:endParaRPr lang="en-GB" sz="1100" dirty="0"/>
            </a:p>
            <a:p>
              <a:r>
                <a:rPr lang="en-GB" sz="1100" dirty="0"/>
                <a:t>Reviews off-chain report, verifies, and signs on-chain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7A88E4-9D17-1779-F949-6DC2E3F0C7BD}"/>
              </a:ext>
            </a:extLst>
          </p:cNvPr>
          <p:cNvGrpSpPr/>
          <p:nvPr/>
        </p:nvGrpSpPr>
        <p:grpSpPr>
          <a:xfrm>
            <a:off x="7852685" y="4032591"/>
            <a:ext cx="1574800" cy="1981200"/>
            <a:chOff x="3378200" y="2964194"/>
            <a:chExt cx="1574800" cy="19812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736DAE-DAFA-BBAC-BA65-B31F60F07C28}"/>
                </a:ext>
              </a:extLst>
            </p:cNvPr>
            <p:cNvSpPr/>
            <p:nvPr/>
          </p:nvSpPr>
          <p:spPr>
            <a:xfrm>
              <a:off x="3378200" y="2964194"/>
              <a:ext cx="1574800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D11E63-9BD9-044E-8D75-9E96D95040BB}"/>
                </a:ext>
              </a:extLst>
            </p:cNvPr>
            <p:cNvSpPr txBox="1"/>
            <p:nvPr/>
          </p:nvSpPr>
          <p:spPr>
            <a:xfrm>
              <a:off x="3517900" y="3098802"/>
              <a:ext cx="13081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3. External verifier </a:t>
              </a:r>
            </a:p>
            <a:p>
              <a:endParaRPr lang="en-GB" sz="1100" dirty="0"/>
            </a:p>
            <a:p>
              <a:r>
                <a:rPr lang="en-GB" sz="1100" dirty="0"/>
                <a:t>Reviews off-chain report, verifies, and signs on-chain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DC4C0A-3C95-BCC4-79C9-0EB24CF3AC9B}"/>
              </a:ext>
            </a:extLst>
          </p:cNvPr>
          <p:cNvGrpSpPr/>
          <p:nvPr/>
        </p:nvGrpSpPr>
        <p:grpSpPr>
          <a:xfrm>
            <a:off x="9688970" y="4032591"/>
            <a:ext cx="1574800" cy="1981200"/>
            <a:chOff x="3378200" y="2964194"/>
            <a:chExt cx="1574800" cy="19812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1BB4B14-3C7A-ACB7-4254-83994D9856D1}"/>
                </a:ext>
              </a:extLst>
            </p:cNvPr>
            <p:cNvSpPr/>
            <p:nvPr/>
          </p:nvSpPr>
          <p:spPr>
            <a:xfrm>
              <a:off x="3378200" y="2964194"/>
              <a:ext cx="1574800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B9AB86-D959-CA23-86BD-A4F4164C287B}"/>
                </a:ext>
              </a:extLst>
            </p:cNvPr>
            <p:cNvSpPr txBox="1"/>
            <p:nvPr/>
          </p:nvSpPr>
          <p:spPr>
            <a:xfrm>
              <a:off x="3517900" y="3098802"/>
              <a:ext cx="13081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4. Finalised </a:t>
              </a:r>
            </a:p>
            <a:p>
              <a:endParaRPr lang="en-GB" sz="1100" dirty="0"/>
            </a:p>
            <a:p>
              <a:r>
                <a:rPr lang="en-GB" sz="1100" dirty="0"/>
                <a:t>Report status = verified and immutable audit trail is created.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E299526-AD95-4FEB-7FDF-0F85D496ADC6}"/>
              </a:ext>
            </a:extLst>
          </p:cNvPr>
          <p:cNvGrpSpPr/>
          <p:nvPr/>
        </p:nvGrpSpPr>
        <p:grpSpPr>
          <a:xfrm>
            <a:off x="3617450" y="1230190"/>
            <a:ext cx="7907805" cy="639124"/>
            <a:chOff x="3420596" y="1294066"/>
            <a:chExt cx="7907805" cy="63912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29808DF-E21F-C6C3-DA4F-F47EF180D4D6}"/>
                </a:ext>
              </a:extLst>
            </p:cNvPr>
            <p:cNvGrpSpPr/>
            <p:nvPr/>
          </p:nvGrpSpPr>
          <p:grpSpPr>
            <a:xfrm>
              <a:off x="3420596" y="1294066"/>
              <a:ext cx="1754842" cy="558800"/>
              <a:chOff x="3149599" y="1346200"/>
              <a:chExt cx="1905001" cy="5588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3D7DE48-36CC-0F89-9DF9-D87EA28C20CF}"/>
                  </a:ext>
                </a:extLst>
              </p:cNvPr>
              <p:cNvSpPr/>
              <p:nvPr/>
            </p:nvSpPr>
            <p:spPr>
              <a:xfrm>
                <a:off x="3149599" y="1346200"/>
                <a:ext cx="1905001" cy="558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C8E07C-7CCB-366A-6000-30A0063E3928}"/>
                  </a:ext>
                </a:extLst>
              </p:cNvPr>
              <p:cNvSpPr txBox="1"/>
              <p:nvPr/>
            </p:nvSpPr>
            <p:spPr>
              <a:xfrm>
                <a:off x="3194050" y="1400549"/>
                <a:ext cx="173355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Regulator</a:t>
                </a:r>
              </a:p>
              <a:p>
                <a:r>
                  <a:rPr lang="en-GB" sz="1100" dirty="0"/>
                  <a:t>Wallet: Admin Account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2A4A300-AAE4-3BA4-E521-FFE8BFA03257}"/>
                </a:ext>
              </a:extLst>
            </p:cNvPr>
            <p:cNvGrpSpPr/>
            <p:nvPr/>
          </p:nvGrpSpPr>
          <p:grpSpPr>
            <a:xfrm>
              <a:off x="5285440" y="1294066"/>
              <a:ext cx="1896598" cy="558800"/>
              <a:chOff x="3149599" y="1346200"/>
              <a:chExt cx="1905001" cy="558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95E9E94-1C6C-D16C-1393-7C47E8A5D9FD}"/>
                  </a:ext>
                </a:extLst>
              </p:cNvPr>
              <p:cNvSpPr/>
              <p:nvPr/>
            </p:nvSpPr>
            <p:spPr>
              <a:xfrm>
                <a:off x="3149599" y="1346200"/>
                <a:ext cx="1905001" cy="558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C62DD4D-4B80-E164-0873-7DB38FA8631C}"/>
                  </a:ext>
                </a:extLst>
              </p:cNvPr>
              <p:cNvSpPr txBox="1"/>
              <p:nvPr/>
            </p:nvSpPr>
            <p:spPr>
              <a:xfrm>
                <a:off x="3194050" y="1400549"/>
                <a:ext cx="173355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Manufacturer</a:t>
                </a:r>
              </a:p>
              <a:p>
                <a:r>
                  <a:rPr lang="en-GB" sz="1100" dirty="0"/>
                  <a:t>Wallet: </a:t>
                </a:r>
                <a:r>
                  <a:rPr lang="en-GB" sz="1050" dirty="0"/>
                  <a:t>Submitter Account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75BBA99-E42A-439B-9C84-D5D76105165A}"/>
                </a:ext>
              </a:extLst>
            </p:cNvPr>
            <p:cNvGrpSpPr/>
            <p:nvPr/>
          </p:nvGrpSpPr>
          <p:grpSpPr>
            <a:xfrm>
              <a:off x="7292040" y="1294066"/>
              <a:ext cx="2021358" cy="639124"/>
              <a:chOff x="3149599" y="1346200"/>
              <a:chExt cx="1905001" cy="639124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E2CF50C-BDA7-1590-313C-D3246C16BEE0}"/>
                  </a:ext>
                </a:extLst>
              </p:cNvPr>
              <p:cNvSpPr/>
              <p:nvPr/>
            </p:nvSpPr>
            <p:spPr>
              <a:xfrm>
                <a:off x="3149599" y="1346200"/>
                <a:ext cx="1905001" cy="558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77F6B81-43BB-F3E9-238E-C313BA2C5507}"/>
                  </a:ext>
                </a:extLst>
              </p:cNvPr>
              <p:cNvSpPr txBox="1"/>
              <p:nvPr/>
            </p:nvSpPr>
            <p:spPr>
              <a:xfrm>
                <a:off x="3149599" y="1400549"/>
                <a:ext cx="190500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Internal Auditor</a:t>
                </a:r>
              </a:p>
              <a:p>
                <a:r>
                  <a:rPr lang="en-GB" sz="1050" dirty="0"/>
                  <a:t>Wallet: Internal auditor Account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93781FC-D2AB-204C-4DD1-88482AAD6BB8}"/>
                </a:ext>
              </a:extLst>
            </p:cNvPr>
            <p:cNvGrpSpPr/>
            <p:nvPr/>
          </p:nvGrpSpPr>
          <p:grpSpPr>
            <a:xfrm>
              <a:off x="9423400" y="1294066"/>
              <a:ext cx="1905001" cy="558800"/>
              <a:chOff x="3149599" y="1346200"/>
              <a:chExt cx="1905001" cy="558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1382FDD-E19E-8660-ED86-96788B548AB6}"/>
                  </a:ext>
                </a:extLst>
              </p:cNvPr>
              <p:cNvSpPr/>
              <p:nvPr/>
            </p:nvSpPr>
            <p:spPr>
              <a:xfrm>
                <a:off x="3149599" y="1346200"/>
                <a:ext cx="1905001" cy="558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ADFD6AE-3395-C85C-A7C7-7E08098CC7D8}"/>
                  </a:ext>
                </a:extLst>
              </p:cNvPr>
              <p:cNvSpPr txBox="1"/>
              <p:nvPr/>
            </p:nvSpPr>
            <p:spPr>
              <a:xfrm>
                <a:off x="3194050" y="1400549"/>
                <a:ext cx="173355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External Verifier</a:t>
                </a:r>
              </a:p>
              <a:p>
                <a:r>
                  <a:rPr lang="en-GB" sz="1100" dirty="0"/>
                  <a:t>Wallet: </a:t>
                </a:r>
                <a:r>
                  <a:rPr lang="en-GB" sz="1050" dirty="0"/>
                  <a:t>Verifier Account</a:t>
                </a:r>
              </a:p>
            </p:txBody>
          </p:sp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B57EB86A-687A-32EE-41EB-F820310EA9CD}"/>
              </a:ext>
            </a:extLst>
          </p:cNvPr>
          <p:cNvSpPr/>
          <p:nvPr/>
        </p:nvSpPr>
        <p:spPr>
          <a:xfrm>
            <a:off x="3175000" y="546556"/>
            <a:ext cx="8635999" cy="5866944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CA72C9-6970-83D9-9B16-202554645755}"/>
              </a:ext>
            </a:extLst>
          </p:cNvPr>
          <p:cNvSpPr txBox="1"/>
          <p:nvPr/>
        </p:nvSpPr>
        <p:spPr>
          <a:xfrm>
            <a:off x="692150" y="218789"/>
            <a:ext cx="1684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5"/>
                </a:solidFill>
              </a:rPr>
              <a:t>Off-chain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32724C-1D1F-4E4E-EE97-F272D31A424B}"/>
              </a:ext>
            </a:extLst>
          </p:cNvPr>
          <p:cNvSpPr txBox="1"/>
          <p:nvPr/>
        </p:nvSpPr>
        <p:spPr>
          <a:xfrm>
            <a:off x="3233283" y="986224"/>
            <a:ext cx="10841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/>
              <a:t>Nodes &amp; Wallets: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F583CC6-2A47-23C6-8C2C-00BD75EACFE3}"/>
              </a:ext>
            </a:extLst>
          </p:cNvPr>
          <p:cNvCxnSpPr>
            <a:cxnSpLocks/>
          </p:cNvCxnSpPr>
          <p:nvPr/>
        </p:nvCxnSpPr>
        <p:spPr>
          <a:xfrm>
            <a:off x="4063071" y="1788990"/>
            <a:ext cx="0" cy="752202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9D60B7A-1678-5C87-0EE8-57FEB6F993C5}"/>
              </a:ext>
            </a:extLst>
          </p:cNvPr>
          <p:cNvSpPr txBox="1"/>
          <p:nvPr/>
        </p:nvSpPr>
        <p:spPr>
          <a:xfrm>
            <a:off x="3274359" y="2112772"/>
            <a:ext cx="114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Deploys smart Contract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72CC65A-F708-B934-43B9-3E7F7A62C68F}"/>
              </a:ext>
            </a:extLst>
          </p:cNvPr>
          <p:cNvGrpSpPr/>
          <p:nvPr/>
        </p:nvGrpSpPr>
        <p:grpSpPr>
          <a:xfrm>
            <a:off x="702609" y="5532780"/>
            <a:ext cx="1790700" cy="759618"/>
            <a:chOff x="368300" y="2946400"/>
            <a:chExt cx="1790700" cy="75961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F554498-BD68-9911-1A47-E64695593FDE}"/>
                </a:ext>
              </a:extLst>
            </p:cNvPr>
            <p:cNvSpPr/>
            <p:nvPr/>
          </p:nvSpPr>
          <p:spPr>
            <a:xfrm>
              <a:off x="368300" y="2946400"/>
              <a:ext cx="1790700" cy="75961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38CD2AE-8912-1448-6668-CA2E3C196540}"/>
                </a:ext>
              </a:extLst>
            </p:cNvPr>
            <p:cNvSpPr txBox="1"/>
            <p:nvPr/>
          </p:nvSpPr>
          <p:spPr>
            <a:xfrm>
              <a:off x="406400" y="2988608"/>
              <a:ext cx="170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noProof="0" dirty="0"/>
                <a:t>Encrypted Copy Shared with Regulator</a:t>
              </a:r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09968AD-9897-966F-1CA2-D9A8DFFD204E}"/>
              </a:ext>
            </a:extLst>
          </p:cNvPr>
          <p:cNvCxnSpPr>
            <a:cxnSpLocks/>
          </p:cNvCxnSpPr>
          <p:nvPr/>
        </p:nvCxnSpPr>
        <p:spPr>
          <a:xfrm>
            <a:off x="1534459" y="5080002"/>
            <a:ext cx="0" cy="44450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068A7E7-267F-642C-CEBF-7313DD9E9FEA}"/>
              </a:ext>
            </a:extLst>
          </p:cNvPr>
          <p:cNvSpPr txBox="1"/>
          <p:nvPr/>
        </p:nvSpPr>
        <p:spPr>
          <a:xfrm>
            <a:off x="3775353" y="2677475"/>
            <a:ext cx="2035071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Facility Registration  &amp; Permission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Registers Facilities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Authorises Users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0AAA33-B08D-7044-FE30-220BC0CD567D}"/>
              </a:ext>
            </a:extLst>
          </p:cNvPr>
          <p:cNvSpPr txBox="1"/>
          <p:nvPr/>
        </p:nvSpPr>
        <p:spPr>
          <a:xfrm>
            <a:off x="5981700" y="2684699"/>
            <a:ext cx="2142233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Report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Stores Report Hash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Controls Submissions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Tracks verification Status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7E1A7A-36CE-DF96-5A6D-57BB8B387A08}"/>
              </a:ext>
            </a:extLst>
          </p:cNvPr>
          <p:cNvSpPr txBox="1"/>
          <p:nvPr/>
        </p:nvSpPr>
        <p:spPr>
          <a:xfrm>
            <a:off x="8293100" y="2684699"/>
            <a:ext cx="1899675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Verification &amp; Audit Trail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Internal Sign-Off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External Verification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Timestamped event log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37AC66-9858-93B7-7901-1AAF77849237}"/>
              </a:ext>
            </a:extLst>
          </p:cNvPr>
          <p:cNvSpPr txBox="1"/>
          <p:nvPr/>
        </p:nvSpPr>
        <p:spPr>
          <a:xfrm>
            <a:off x="10298411" y="2684699"/>
            <a:ext cx="135050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Shared ledger: </a:t>
            </a:r>
            <a:r>
              <a:rPr lang="en-GB" sz="1100" dirty="0"/>
              <a:t>report hashes, verification status and audit events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9F9130-EC45-64E1-DC33-4E39CAF964AB}"/>
              </a:ext>
            </a:extLst>
          </p:cNvPr>
          <p:cNvSpPr txBox="1"/>
          <p:nvPr/>
        </p:nvSpPr>
        <p:spPr>
          <a:xfrm rot="16200000">
            <a:off x="1570858" y="4278296"/>
            <a:ext cx="3751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Smart Contract - </a:t>
            </a:r>
            <a:r>
              <a:rPr lang="en-GB" sz="1200" dirty="0"/>
              <a:t>Emissions MRV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3D48F39-9A45-D9D2-13C6-1F7F81DA4217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4594410" y="1788990"/>
            <a:ext cx="198479" cy="88848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1DF6F36-CE21-AB75-95C7-247E7BD17904}"/>
              </a:ext>
            </a:extLst>
          </p:cNvPr>
          <p:cNvCxnSpPr>
            <a:cxnSpLocks/>
          </p:cNvCxnSpPr>
          <p:nvPr/>
        </p:nvCxnSpPr>
        <p:spPr>
          <a:xfrm>
            <a:off x="6674262" y="1788990"/>
            <a:ext cx="1" cy="88848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1ADD0F9-F728-4FD2-283C-2637B3E4E613}"/>
              </a:ext>
            </a:extLst>
          </p:cNvPr>
          <p:cNvCxnSpPr>
            <a:cxnSpLocks/>
          </p:cNvCxnSpPr>
          <p:nvPr/>
        </p:nvCxnSpPr>
        <p:spPr>
          <a:xfrm>
            <a:off x="9181727" y="1815430"/>
            <a:ext cx="1" cy="88848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6E8FC33-C0F8-2344-3E83-9D2C242711CF}"/>
              </a:ext>
            </a:extLst>
          </p:cNvPr>
          <p:cNvCxnSpPr>
            <a:cxnSpLocks/>
            <a:stCxn id="47" idx="2"/>
            <a:endCxn id="63" idx="0"/>
          </p:cNvCxnSpPr>
          <p:nvPr/>
        </p:nvCxnSpPr>
        <p:spPr>
          <a:xfrm flipH="1">
            <a:off x="9242938" y="1788990"/>
            <a:ext cx="1329817" cy="89570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DE7E51-5EB2-6FB6-B723-6860156DC95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712759" y="5023191"/>
            <a:ext cx="26894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F2A5399-930B-12C1-0B4F-FD3B29A5C1D5}"/>
              </a:ext>
            </a:extLst>
          </p:cNvPr>
          <p:cNvCxnSpPr>
            <a:cxnSpLocks/>
          </p:cNvCxnSpPr>
          <p:nvPr/>
        </p:nvCxnSpPr>
        <p:spPr>
          <a:xfrm>
            <a:off x="7560585" y="5017182"/>
            <a:ext cx="26894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DE777A-4EAA-676E-48B3-B4EBC696D646}"/>
              </a:ext>
            </a:extLst>
          </p:cNvPr>
          <p:cNvCxnSpPr>
            <a:cxnSpLocks/>
          </p:cNvCxnSpPr>
          <p:nvPr/>
        </p:nvCxnSpPr>
        <p:spPr>
          <a:xfrm>
            <a:off x="9427485" y="5017182"/>
            <a:ext cx="26894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9592D1F-1BD4-4B9C-50A9-E5E5BA24F37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482850" y="4089402"/>
            <a:ext cx="120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1D61EC6-84A8-BA9F-C4A2-6262C3F3DFF2}"/>
              </a:ext>
            </a:extLst>
          </p:cNvPr>
          <p:cNvCxnSpPr>
            <a:cxnSpLocks/>
          </p:cNvCxnSpPr>
          <p:nvPr/>
        </p:nvCxnSpPr>
        <p:spPr>
          <a:xfrm>
            <a:off x="2603500" y="4089402"/>
            <a:ext cx="0" cy="1485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CE7660D-6FB2-CB64-7732-056C64A8B984}"/>
              </a:ext>
            </a:extLst>
          </p:cNvPr>
          <p:cNvCxnSpPr/>
          <p:nvPr/>
        </p:nvCxnSpPr>
        <p:spPr>
          <a:xfrm>
            <a:off x="2608730" y="5571531"/>
            <a:ext cx="1013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ACC9B43-098A-D950-42AD-000E24DC85B7}"/>
              </a:ext>
            </a:extLst>
          </p:cNvPr>
          <p:cNvSpPr txBox="1"/>
          <p:nvPr/>
        </p:nvSpPr>
        <p:spPr>
          <a:xfrm>
            <a:off x="2603500" y="5682892"/>
            <a:ext cx="9248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800" dirty="0"/>
              <a:t>Report Hash  is submitted to smart contract</a:t>
            </a:r>
          </a:p>
        </p:txBody>
      </p:sp>
    </p:spTree>
    <p:extLst>
      <p:ext uri="{BB962C8B-B14F-4D97-AF65-F5344CB8AC3E}">
        <p14:creationId xmlns:p14="http://schemas.microsoft.com/office/powerpoint/2010/main" val="381408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215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Lindokuhle G</dc:creator>
  <cp:lastModifiedBy>Lindokuhle G</cp:lastModifiedBy>
  <cp:revision>2</cp:revision>
  <dcterms:created xsi:type="dcterms:W3CDTF">2026-08-27T10:58:34Z</dcterms:created>
  <dcterms:modified xsi:type="dcterms:W3CDTF">2026-08-27T21:29:45Z</dcterms:modified>
</cp:coreProperties>
</file>